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ksameer45/IBM_internshi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99952916"/>
              </p:ext>
            </p:extLst>
          </p:nvPr>
        </p:nvGraphicFramePr>
        <p:xfrm>
          <a:off x="1299257" y="2600314"/>
          <a:ext cx="9394989" cy="2512459"/>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28322">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84137">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   SHAIK SAMEER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200" dirty="0"/>
                    </a:p>
                    <a:p>
                      <a:pPr marL="0" marR="0" lvl="0" indent="0" algn="l" rtl="0">
                        <a:spcBef>
                          <a:spcPts val="0"/>
                        </a:spcBef>
                        <a:spcAft>
                          <a:spcPts val="0"/>
                        </a:spcAft>
                        <a:buNone/>
                      </a:pPr>
                      <a:endParaRPr lang="en-US" sz="1200" dirty="0"/>
                    </a:p>
                    <a:p>
                      <a:pPr marL="0" marR="0" lvl="0" indent="0" algn="l" rtl="0">
                        <a:spcBef>
                          <a:spcPts val="0"/>
                        </a:spcBef>
                        <a:spcAft>
                          <a:spcPts val="0"/>
                        </a:spcAft>
                        <a:buNone/>
                      </a:pPr>
                      <a:r>
                        <a:rPr lang="en-US" sz="1200" dirty="0"/>
                        <a:t>  shaiksameerkhit@gmail.com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sz="1600" dirty="0"/>
                        <a:t>        7893908003</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982065" y="3856543"/>
            <a:ext cx="1140541" cy="1119674"/>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 </a:t>
            </a:r>
            <a:r>
              <a:rPr lang="en-IN" sz="2400" dirty="0">
                <a:highlight>
                  <a:srgbClr val="FFFF00"/>
                </a:highlight>
              </a:rPr>
              <a:t>Artificial Intelligence</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376516" y="551965"/>
            <a:ext cx="9410823"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RAG-Based Educational Admission Agent</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3539430"/>
          </a:xfrm>
          <a:prstGeom prst="rect">
            <a:avLst/>
          </a:prstGeom>
          <a:noFill/>
        </p:spPr>
        <p:txBody>
          <a:bodyPr wrap="square" rtlCol="0">
            <a:spAutoFit/>
          </a:bodyPr>
          <a:lstStyle/>
          <a:p>
            <a:pPr fontAlgn="base"/>
            <a:r>
              <a:rPr lang="en-US" b="1" dirty="0"/>
              <a:t>Problem Statement : </a:t>
            </a:r>
            <a:r>
              <a:rPr lang="en-IN" b="1" dirty="0"/>
              <a:t>College Admission Agent</a:t>
            </a:r>
            <a:endParaRPr lang="en-US" b="1" dirty="0"/>
          </a:p>
          <a:p>
            <a:pPr fontAlgn="base"/>
            <a:endParaRPr lang="en-US" b="1" dirty="0"/>
          </a:p>
          <a:p>
            <a:pPr fontAlgn="base"/>
            <a:r>
              <a:rPr lang="en-US" b="1" dirty="0"/>
              <a:t>The Challenge</a:t>
            </a:r>
            <a:r>
              <a:rPr lang="en-US" dirty="0"/>
              <a:t> </a:t>
            </a:r>
          </a:p>
          <a:p>
            <a:pPr fontAlgn="base"/>
            <a:r>
              <a:rPr lang="en-US" dirty="0"/>
              <a:t>The College Admission Agent is an AI-powered chatbot developed using RAG technology to simplify the admission process. It retrieves admission details such as eligibility, fees, courses, and FAQs from official sources and provides accurate real-time responses to students. The system improves accessibility, reduces manual inquiries, and uses IBM Granite with IBM Cloud Lite services for intelligent response generation.</a:t>
            </a:r>
          </a:p>
          <a:p>
            <a:pPr fontAlgn="base"/>
            <a:endParaRPr lang="en-US" dirty="0"/>
          </a:p>
          <a:p>
            <a:pPr fontAlgn="base"/>
            <a:r>
              <a:rPr lang="en-US" b="1" dirty="0"/>
              <a:t>The Objective</a:t>
            </a:r>
            <a:r>
              <a:rPr lang="en-US" dirty="0"/>
              <a:t> </a:t>
            </a:r>
          </a:p>
          <a:p>
            <a:pPr fontAlgn="base"/>
            <a:r>
              <a:rPr lang="en-US" dirty="0"/>
              <a:t>The main objective of this project is to develop an AI-powered College Admission Agent using RAG technology to provide accurate and real-time admission information to students. The system aims to simplify the admission process, reduce manual inquiries, and improve accessibility using IBM Granite and IBM Cloud Lite services: </a:t>
            </a:r>
          </a:p>
          <a:p>
            <a:pPr fontAlgn="base"/>
            <a:endParaRPr lang="en-US" dirty="0"/>
          </a:p>
          <a:p>
            <a:pPr fontAlgn="base"/>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1419843" y="1329946"/>
            <a:ext cx="5527073" cy="1600438"/>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713724" y="868281"/>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4" name="Rectangle 1">
            <a:extLst>
              <a:ext uri="{FF2B5EF4-FFF2-40B4-BE49-F238E27FC236}">
                <a16:creationId xmlns:a16="http://schemas.microsoft.com/office/drawing/2014/main" id="{C14A789A-A054-10C0-A1F9-5206DB16CC67}"/>
              </a:ext>
            </a:extLst>
          </p:cNvPr>
          <p:cNvSpPr>
            <a:spLocks noChangeArrowheads="1"/>
          </p:cNvSpPr>
          <p:nvPr/>
        </p:nvSpPr>
        <p:spPr bwMode="auto">
          <a:xfrm rot="10800000" flipV="1">
            <a:off x="1500305" y="1658908"/>
            <a:ext cx="856792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HTML, CSS, JavaScript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Frontend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Python, Flask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Backend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LangChain</a:t>
            </a:r>
            <a:r>
              <a:rPr kumimoji="0" lang="en-US" altLang="en-US" sz="1800" b="0" i="0" u="none" strike="noStrike" cap="none" normalizeH="0" baseline="0" dirty="0">
                <a:ln>
                  <a:noFill/>
                </a:ln>
                <a:solidFill>
                  <a:schemeClr val="tx1"/>
                </a:solidFill>
                <a:effectLst/>
                <a:latin typeface="Arial" panose="020B0604020202020204" pitchFamily="34" charset="0"/>
              </a:rPr>
              <a:t>, RAG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AI Framework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IBM Granite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Large Language Model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FAISS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Vector Database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IBM Cloud Lite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Cloud Platform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IBM Watsonx.ai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AI Integration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VS Code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Development Environment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Git &amp; GitHub –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Version Control </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2893100"/>
          </a:xfrm>
          <a:prstGeom prst="rect">
            <a:avLst/>
          </a:prstGeom>
          <a:noFill/>
        </p:spPr>
        <p:txBody>
          <a:bodyPr wrap="square" rtlCol="0">
            <a:spAutoFit/>
          </a:bodyPr>
          <a:lstStyle/>
          <a:p>
            <a:pPr fontAlgn="base"/>
            <a:endParaRPr lang="en-US" b="1" dirty="0"/>
          </a:p>
          <a:p>
            <a:r>
              <a:rPr lang="en-US" b="1" dirty="0">
                <a:latin typeface="Times New Roman" panose="02020603050405020304" pitchFamily="18" charset="0"/>
                <a:cs typeface="Times New Roman" panose="02020603050405020304" pitchFamily="18" charset="0"/>
              </a:rPr>
              <a:t>Proposed Solution: RAG Based Educational Admission Agent</a:t>
            </a:r>
          </a:p>
          <a:p>
            <a:r>
              <a:rPr lang="en-US" sz="1800" dirty="0">
                <a:latin typeface="Times New Roman" panose="02020603050405020304" pitchFamily="18" charset="0"/>
                <a:cs typeface="Times New Roman" panose="02020603050405020304" pitchFamily="18" charset="0"/>
              </a:rPr>
              <a:t>The proposed system is an AI-powered College Admission Agent developed using Retrieval-Augmented Generation (RAG) and IBM Granite models to assist students with admission-related queries. The system retrieves information such as eligibility criteria, fee details, course information, and admission procedures from institutional documents and databases.</a:t>
            </a:r>
          </a:p>
          <a:p>
            <a:r>
              <a:rPr lang="en-US" sz="1800" dirty="0">
                <a:latin typeface="Times New Roman" panose="02020603050405020304" pitchFamily="18" charset="0"/>
                <a:cs typeface="Times New Roman" panose="02020603050405020304" pitchFamily="18" charset="0"/>
              </a:rPr>
              <a:t>Using FAISS vector database and </a:t>
            </a:r>
            <a:r>
              <a:rPr lang="en-US" sz="1800" dirty="0" err="1">
                <a:latin typeface="Times New Roman" panose="02020603050405020304" pitchFamily="18" charset="0"/>
                <a:cs typeface="Times New Roman" panose="02020603050405020304" pitchFamily="18" charset="0"/>
              </a:rPr>
              <a:t>LangChain</a:t>
            </a:r>
            <a:r>
              <a:rPr lang="en-US" sz="1800" dirty="0">
                <a:latin typeface="Times New Roman" panose="02020603050405020304" pitchFamily="18" charset="0"/>
                <a:cs typeface="Times New Roman" panose="02020603050405020304" pitchFamily="18" charset="0"/>
              </a:rPr>
              <a:t>, the chatbot performs semantic search and generates accurate real-time responses through IBM Granite LLM. The solution reduces manual inquiries, improves accessibility, and provides an efficient and user-friendly admission support system using IBM Cloud Lite services</a:t>
            </a:r>
            <a:r>
              <a:rPr lang="en-US" dirty="0">
                <a:latin typeface="Times New Roman" panose="02020603050405020304" pitchFamily="18" charset="0"/>
                <a:cs typeface="Times New Roman" panose="02020603050405020304" pitchFamily="18" charset="0"/>
              </a:rPr>
              <a:t>.</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component Used -</a:t>
            </a:r>
            <a:endParaRPr sz="2400" b="1" dirty="0">
              <a:latin typeface="Times New Roman" panose="02020603050405020304" pitchFamily="18" charset="0"/>
              <a:cs typeface="Times New Roman" panose="02020603050405020304" pitchFamily="18" charset="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963561" y="1000839"/>
            <a:ext cx="9455929" cy="3539430"/>
          </a:xfrm>
          <a:prstGeom prst="rect">
            <a:avLst/>
          </a:prstGeom>
          <a:noFill/>
        </p:spPr>
        <p:txBody>
          <a:bodyPr wrap="square" rtlCol="0">
            <a:spAutoFit/>
          </a:bodyPr>
          <a:lstStyle/>
          <a:p>
            <a:endParaRPr lang="en-US" sz="1600" dirty="0"/>
          </a:p>
          <a:p>
            <a:r>
              <a:rPr lang="en-IN" sz="1600" b="1" dirty="0"/>
              <a:t>1)Chat Input</a:t>
            </a:r>
            <a:r>
              <a:rPr lang="en-IN" sz="1600" dirty="0"/>
              <a:t> – Accepts user queries </a:t>
            </a:r>
          </a:p>
          <a:p>
            <a:r>
              <a:rPr lang="en-IN" sz="1600" b="1" dirty="0"/>
              <a:t>2)Text Splitter</a:t>
            </a:r>
            <a:r>
              <a:rPr lang="en-IN" sz="1600" dirty="0"/>
              <a:t> – Splits large documents into chunks </a:t>
            </a:r>
          </a:p>
          <a:p>
            <a:r>
              <a:rPr lang="en-IN" sz="1600" b="1" dirty="0"/>
              <a:t>3)Embedding Model</a:t>
            </a:r>
            <a:r>
              <a:rPr lang="en-IN" sz="1600" dirty="0"/>
              <a:t> – Converts text into vectors </a:t>
            </a:r>
          </a:p>
          <a:p>
            <a:r>
              <a:rPr lang="en-IN" sz="1600" b="1" dirty="0"/>
              <a:t>4)FAISS Vector Store</a:t>
            </a:r>
            <a:r>
              <a:rPr lang="en-IN" sz="1600" dirty="0"/>
              <a:t> – Stores embeddings </a:t>
            </a:r>
          </a:p>
          <a:p>
            <a:r>
              <a:rPr lang="en-IN" sz="1600" b="1" dirty="0"/>
              <a:t>5)Retriever</a:t>
            </a:r>
            <a:r>
              <a:rPr lang="en-IN" sz="1600" dirty="0"/>
              <a:t> – Retrieves relevant information </a:t>
            </a:r>
          </a:p>
          <a:p>
            <a:r>
              <a:rPr lang="en-IN" sz="1600" b="1" dirty="0"/>
              <a:t>6)IBM Granite LLM</a:t>
            </a:r>
            <a:r>
              <a:rPr lang="en-IN" sz="1600" dirty="0"/>
              <a:t> – Generates intelligent responses </a:t>
            </a:r>
          </a:p>
          <a:p>
            <a:r>
              <a:rPr lang="en-IN" sz="1600" b="1" dirty="0"/>
              <a:t>7)Chat Output</a:t>
            </a:r>
            <a:r>
              <a:rPr lang="en-IN" sz="1600" dirty="0"/>
              <a:t> – Displays final response to users </a:t>
            </a:r>
          </a:p>
          <a:p>
            <a:endParaRPr lang="en-US" sz="1600" dirty="0"/>
          </a:p>
          <a:p>
            <a:endParaRPr lang="en-US" sz="1600" dirty="0"/>
          </a:p>
          <a:p>
            <a:endParaRPr lang="en-US" sz="1600" dirty="0"/>
          </a:p>
          <a:p>
            <a:endParaRPr lang="en-US" sz="1600" dirty="0"/>
          </a:p>
          <a:p>
            <a:endParaRPr lang="en-US" sz="1600" dirty="0"/>
          </a:p>
          <a:p>
            <a:r>
              <a:rPr lang="en-US" sz="1600" dirty="0"/>
              <a:t> </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a:stretch/>
        </p:blipFill>
        <p:spPr>
          <a:xfrm>
            <a:off x="537590" y="1174375"/>
            <a:ext cx="1052051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latin typeface="Times New Roman" panose="02020603050405020304" pitchFamily="18" charset="0"/>
                <a:cs typeface="Times New Roman" panose="02020603050405020304" pitchFamily="18" charset="0"/>
                <a:sym typeface="Times New Roman"/>
              </a:rPr>
              <a:t>Langflow</a:t>
            </a: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 </a:t>
            </a:r>
            <a:r>
              <a:rPr lang="en-US" sz="2400" b="1" dirty="0">
                <a:latin typeface="Times New Roman" panose="02020603050405020304" pitchFamily="18" charset="0"/>
                <a:cs typeface="Times New Roman" panose="02020603050405020304" pitchFamily="18" charset="0"/>
                <a:sym typeface="Times New Roman"/>
              </a:rPr>
              <a:t>workflow -</a:t>
            </a:r>
            <a:endParaRPr sz="2400" b="1" dirty="0">
              <a:latin typeface="Times New Roman" panose="02020603050405020304" pitchFamily="18" charset="0"/>
              <a:cs typeface="Times New Roman" panose="02020603050405020304" pitchFamily="18" charset="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668594" y="914400"/>
            <a:ext cx="11080954" cy="5769864"/>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Architecture blueprint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a:blip r:embed="rId3">
            <a:alphaModFix/>
          </a:blip>
          <a:srcRect/>
          <a:stretch/>
        </p:blipFill>
        <p:spPr>
          <a:xfrm>
            <a:off x="8298425" y="973393"/>
            <a:ext cx="3657600" cy="5427406"/>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Role of Admission Agent in the Solution</a:t>
            </a:r>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Role of Admission Agent in the Solution</a:t>
            </a:r>
          </a:p>
          <a:p>
            <a:r>
              <a:rPr lang="en-US" dirty="0">
                <a:latin typeface="Times New Roman" panose="02020603050405020304" pitchFamily="18" charset="0"/>
                <a:cs typeface="Times New Roman" panose="02020603050405020304" pitchFamily="18" charset="0"/>
              </a:rPr>
              <a:t>The Admission Agent acts as the intelligent core component of the proposed solution, designed to assist students throughout the college admission process. It uses Retrieval-Augmented Generation (RAG) technology along with IBM Granite models to provide accurate, real-time, and context-aware responses to student queries. The system understands questions asked in natural language and retrieves the most relevant information from institutional databases and official admission documents.</a:t>
            </a:r>
          </a:p>
          <a:p>
            <a:r>
              <a:rPr lang="en-US" dirty="0">
                <a:latin typeface="Times New Roman" panose="02020603050405020304" pitchFamily="18" charset="0"/>
                <a:cs typeface="Times New Roman" panose="02020603050405020304" pitchFamily="18" charset="0"/>
              </a:rPr>
              <a:t>The Admission Agent helps students by providing information related to eligibility criteria, fee structures, course details, admission procedures, important deadlines, scholarships, and frequently asked questions. Using semantic search and FAISS vector database, the system quickly retrieves relevant content and generates reliable responses through IBM Granite Large Language Models.</a:t>
            </a:r>
          </a:p>
          <a:p>
            <a:r>
              <a:rPr lang="en-US" dirty="0">
                <a:latin typeface="Times New Roman" panose="02020603050405020304" pitchFamily="18" charset="0"/>
                <a:cs typeface="Times New Roman" panose="02020603050405020304" pitchFamily="18" charset="0"/>
              </a:rPr>
              <a:t>The agent also reduces the manual workload of admission staff by automating repetitive inquiries and providing 24/7 intelligent support. It improves accessibility, transparency, and efficiency in the admission process while ensuring a better user experience for prospective students. The AI-powered assistant acts as a smart bridge between students and institutional information systems, making admission guidance faster, easier, and more efficient.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Novelty and Uniqueness</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24955"/>
            <a:ext cx="11301984" cy="141577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The project introduces an AI-powered College Admission Agent using RAG technology and IBM Granite models to provide accurate, intelligent, and real-time admission assistance. The system combines semantic search, vector databases, and cloud-based AI services to improve accessibility, efficiency, and transparency in the admission process.</a:t>
            </a:r>
            <a:endParaRPr lang="en-IN" sz="1800" dirty="0">
              <a:latin typeface="Times New Roman" panose="02020603050405020304" pitchFamily="18" charset="0"/>
              <a:cs typeface="Times New Roman" panose="02020603050405020304" pitchFamily="18" charset="0"/>
            </a:endParaRPr>
          </a:p>
          <a:p>
            <a:endParaRPr lang="en-IN" sz="1800" dirty="0"/>
          </a:p>
          <a:p>
            <a:endParaRPr lang="en-IN" dirty="0"/>
          </a:p>
        </p:txBody>
      </p:sp>
      <p:sp>
        <p:nvSpPr>
          <p:cNvPr id="4" name="Rectangle 1">
            <a:extLst>
              <a:ext uri="{FF2B5EF4-FFF2-40B4-BE49-F238E27FC236}">
                <a16:creationId xmlns:a16="http://schemas.microsoft.com/office/drawing/2014/main" id="{886B1F8F-F880-7B05-18F1-459D3C5A1DF9}"/>
              </a:ext>
            </a:extLst>
          </p:cNvPr>
          <p:cNvSpPr>
            <a:spLocks noChangeArrowheads="1"/>
          </p:cNvSpPr>
          <p:nvPr/>
        </p:nvSpPr>
        <p:spPr bwMode="auto">
          <a:xfrm>
            <a:off x="777240" y="1645198"/>
            <a:ext cx="7235558"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Intelligent Assistance-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Provides accurate and real-time admission support using AI.</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RAG Technology-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Uses Retrieval-Augmented Generation for reliable and context-aware responses.</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IBM Granite Integration-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Generates intelligent and human-like responses using IBM Granite models.</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Semantic Search-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Uses FAISS vector database for fast and efficient information retrieval.</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Reduced Manual Workload-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Automates admission inquiries and improves efficiency.</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24/7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Provides continuous admission guidance anytime.</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Cloud-Based Deployment-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Uses IBM Cloud Lite and Watsonx.ai for secure AI deployment.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Enhanced Student Experience-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Improves accessibility, transparency, and user interaction.</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latin typeface="Times New Roman" panose="02020603050405020304" pitchFamily="18" charset="0"/>
                <a:cs typeface="Times New Roman" panose="02020603050405020304" pitchFamily="18" charset="0"/>
                <a:sym typeface="Times New Roman"/>
              </a:rPr>
              <a:t>Git Hub Link</a:t>
            </a:r>
            <a:endParaRPr sz="2400" b="1" dirty="0">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GITHUB_REPOSITORY</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i="0" u="none" strike="noStrike" cap="none" dirty="0">
                <a:solidFill>
                  <a:srgbClr val="2B3541"/>
                </a:solidFill>
                <a:latin typeface="Times New Roman"/>
                <a:ea typeface="Times New Roman"/>
                <a:cs typeface="Times New Roman"/>
                <a:sym typeface="Times New Roman"/>
              </a:rPr>
              <a:t>1.</a:t>
            </a:r>
            <a:r>
              <a:rPr lang="en-IN" sz="2000" dirty="0"/>
              <a:t> </a:t>
            </a:r>
            <a:r>
              <a:rPr lang="en-IN" sz="2000" b="1" dirty="0">
                <a:latin typeface="Times New Roman" panose="02020603050405020304" pitchFamily="18" charset="0"/>
                <a:cs typeface="Times New Roman" panose="02020603050405020304" pitchFamily="18" charset="0"/>
              </a:rPr>
              <a:t>Multilingual and Voice Support</a:t>
            </a:r>
            <a:r>
              <a:rPr lang="en-US" sz="1850" b="1"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1850" b="1"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2000" dirty="0">
                <a:latin typeface="Times New Roman" panose="02020603050405020304" pitchFamily="18" charset="0"/>
                <a:cs typeface="Times New Roman" panose="02020603050405020304" pitchFamily="18" charset="0"/>
              </a:rPr>
              <a:t>The system can be enhanced with multilingual chatbot functionality and voice-based interaction to support students from different regions and languages. This will improve accessibility and user experience</a:t>
            </a:r>
            <a:r>
              <a:rPr lang="en-US" sz="185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rPr>
              <a: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2.</a:t>
            </a:r>
            <a:r>
              <a:rPr lang="en-IN" sz="2000" dirty="0"/>
              <a:t> </a:t>
            </a:r>
            <a:r>
              <a:rPr lang="en-IN" sz="2000" b="1" dirty="0">
                <a:latin typeface="Times New Roman" panose="02020603050405020304" pitchFamily="18" charset="0"/>
                <a:cs typeface="Times New Roman" panose="02020603050405020304" pitchFamily="18" charset="0"/>
              </a:rPr>
              <a:t>Advanced Student Services</a:t>
            </a:r>
            <a:r>
              <a:rPr lang="en-US" sz="1850" b="1"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2000" dirty="0">
                <a:latin typeface="Times New Roman" panose="02020603050405020304" pitchFamily="18" charset="0"/>
                <a:cs typeface="Times New Roman" panose="02020603050405020304" pitchFamily="18" charset="0"/>
              </a:rPr>
              <a:t>Future improvements can include WhatsApp integration, student login portals, admission tracking, and AI-based course recommendation systems for better personalized guidance and automation.</a:t>
            </a:r>
            <a:endParaRPr lang="en-US" sz="185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1227</TotalTime>
  <Words>989</Words>
  <Application>Microsoft Office PowerPoint</Application>
  <PresentationFormat>Widescreen</PresentationFormat>
  <Paragraphs>119</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shaik sameer</cp:lastModifiedBy>
  <cp:revision>35</cp:revision>
  <dcterms:created xsi:type="dcterms:W3CDTF">2025-07-08T05:06:56Z</dcterms:created>
  <dcterms:modified xsi:type="dcterms:W3CDTF">2026-05-21T06:15:49Z</dcterms:modified>
</cp:coreProperties>
</file>